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43891200" cy="21945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912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2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703"/>
  </p:normalViewPr>
  <p:slideViewPr>
    <p:cSldViewPr snapToGrid="0">
      <p:cViewPr varScale="1">
        <p:scale>
          <a:sx n="34" d="100"/>
          <a:sy n="34" d="100"/>
        </p:scale>
        <p:origin x="144" y="235"/>
      </p:cViewPr>
      <p:guideLst>
        <p:guide orient="horz" pos="6912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70"/>
              </a:spcBef>
              <a:spcAft>
                <a:spcPts val="0"/>
              </a:spcAft>
              <a:buSzPts val="1400"/>
              <a:buNone/>
              <a:defRPr sz="12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70"/>
              </a:spcBef>
              <a:spcAft>
                <a:spcPts val="0"/>
              </a:spcAft>
              <a:buSzPts val="1400"/>
              <a:buNone/>
              <a:defRPr sz="12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70"/>
              </a:spcBef>
              <a:spcAft>
                <a:spcPts val="0"/>
              </a:spcAft>
              <a:buSzPts val="1400"/>
              <a:buNone/>
              <a:defRPr sz="12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70"/>
              </a:spcBef>
              <a:spcAft>
                <a:spcPts val="0"/>
              </a:spcAft>
              <a:buSzPts val="1400"/>
              <a:buNone/>
              <a:defRPr sz="12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70"/>
              </a:spcBef>
              <a:spcAft>
                <a:spcPts val="0"/>
              </a:spcAft>
              <a:buSzPts val="1400"/>
              <a:buNone/>
              <a:defRPr sz="12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dd8fbdc271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2" name="Google Shape;82;gdd8fbdc271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gdd8fbdc271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7640320" y="409896"/>
            <a:ext cx="28128685" cy="2169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381005" y="3135090"/>
            <a:ext cx="13700761" cy="18200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t" anchorCtr="0">
            <a:normAutofit/>
          </a:bodyPr>
          <a:lstStyle>
            <a:lvl1pPr marL="457200" lvl="0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latin typeface="Arial"/>
                <a:ea typeface="Arial"/>
                <a:cs typeface="Arial"/>
                <a:sym typeface="Arial"/>
              </a:defRPr>
            </a:lvl1pPr>
            <a:lvl2pPr marL="914400" lvl="1" indent="-37465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⮚"/>
              <a:defRPr sz="23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7465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»"/>
              <a:defRPr sz="2300"/>
            </a:lvl5pPr>
            <a:lvl6pPr marL="2743200" lvl="5" indent="-558800" algn="l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5200"/>
              <a:buChar char="•"/>
              <a:defRPr sz="5200"/>
            </a:lvl6pPr>
            <a:lvl7pPr marL="3200400" lvl="6" indent="-558800" algn="l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5200"/>
              <a:buChar char="•"/>
              <a:defRPr sz="5200"/>
            </a:lvl7pPr>
            <a:lvl8pPr marL="3657600" lvl="7" indent="-558800" algn="l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5200"/>
              <a:buChar char="•"/>
              <a:defRPr sz="5200"/>
            </a:lvl8pPr>
            <a:lvl9pPr marL="4114800" lvl="8" indent="-558800" algn="l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5200"/>
              <a:buChar char="•"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2"/>
          </p:nvPr>
        </p:nvSpPr>
        <p:spPr>
          <a:xfrm>
            <a:off x="14980925" y="3135090"/>
            <a:ext cx="13700761" cy="18200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t" anchorCtr="0">
            <a:normAutofit/>
          </a:bodyPr>
          <a:lstStyle>
            <a:lvl1pPr marL="457200" lvl="0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latin typeface="Arial"/>
                <a:ea typeface="Arial"/>
                <a:cs typeface="Arial"/>
                <a:sym typeface="Arial"/>
              </a:defRPr>
            </a:lvl1pPr>
            <a:lvl2pPr marL="914400" lvl="1" indent="-37465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⮚"/>
              <a:defRPr sz="23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7465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»"/>
              <a:defRPr sz="2300"/>
            </a:lvl5pPr>
            <a:lvl6pPr marL="2743200" lvl="5" indent="-558800" algn="l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5200"/>
              <a:buChar char="•"/>
              <a:defRPr sz="5200"/>
            </a:lvl6pPr>
            <a:lvl7pPr marL="3200400" lvl="6" indent="-558800" algn="l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5200"/>
              <a:buChar char="•"/>
              <a:defRPr sz="5200"/>
            </a:lvl7pPr>
            <a:lvl8pPr marL="3657600" lvl="7" indent="-558800" algn="l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5200"/>
              <a:buChar char="•"/>
              <a:defRPr sz="5200"/>
            </a:lvl8pPr>
            <a:lvl9pPr marL="4114800" lvl="8" indent="-558800" algn="l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5200"/>
              <a:buChar char="•"/>
              <a:defRPr sz="52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body" idx="3"/>
          </p:nvPr>
        </p:nvSpPr>
        <p:spPr>
          <a:xfrm>
            <a:off x="29580844" y="3135090"/>
            <a:ext cx="13700761" cy="18200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t" anchorCtr="0">
            <a:normAutofit/>
          </a:bodyPr>
          <a:lstStyle>
            <a:lvl1pPr marL="457200" lvl="0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latin typeface="Arial"/>
                <a:ea typeface="Arial"/>
                <a:cs typeface="Arial"/>
                <a:sym typeface="Arial"/>
              </a:defRPr>
            </a:lvl1pPr>
            <a:lvl2pPr marL="914400" lvl="1" indent="-37465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⮚"/>
              <a:defRPr sz="23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7465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»"/>
              <a:defRPr sz="2300"/>
            </a:lvl5pPr>
            <a:lvl6pPr marL="2743200" lvl="5" indent="-558800" algn="l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5200"/>
              <a:buChar char="•"/>
              <a:defRPr sz="5200"/>
            </a:lvl6pPr>
            <a:lvl7pPr marL="3200400" lvl="6" indent="-558800" algn="l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5200"/>
              <a:buChar char="•"/>
              <a:defRPr sz="5200"/>
            </a:lvl7pPr>
            <a:lvl8pPr marL="3657600" lvl="7" indent="-558800" algn="l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5200"/>
              <a:buChar char="•"/>
              <a:defRPr sz="5200"/>
            </a:lvl8pPr>
            <a:lvl9pPr marL="4114800" lvl="8" indent="-558800" algn="l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5200"/>
              <a:buChar char="•"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3467103" y="14102081"/>
            <a:ext cx="37307519" cy="43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8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3467103" y="9301487"/>
            <a:ext cx="37307519" cy="480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b" anchorCtr="0">
            <a:noAutofit/>
          </a:bodyPr>
          <a:lstStyle>
            <a:lvl1pPr marL="457200" lvl="0" indent="-228600" algn="l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6500"/>
              <a:buNone/>
              <a:defRPr sz="6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1140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 sz="57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40"/>
              </a:spcBef>
              <a:spcAft>
                <a:spcPts val="0"/>
              </a:spcAft>
              <a:buClr>
                <a:srgbClr val="888888"/>
              </a:buClr>
              <a:buSzPts val="5200"/>
              <a:buNone/>
              <a:defRPr sz="5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4500"/>
              <a:buNone/>
              <a:defRPr sz="45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4500"/>
              <a:buNone/>
              <a:defRPr sz="45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4500"/>
              <a:buNone/>
              <a:defRPr sz="45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4500"/>
              <a:buNone/>
              <a:defRPr sz="45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4500"/>
              <a:buNone/>
              <a:defRPr sz="45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4500"/>
              <a:buNone/>
              <a:defRPr sz="45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2195209" y="20340431"/>
            <a:ext cx="10239983" cy="116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14996809" y="20340431"/>
            <a:ext cx="13897583" cy="116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31456009" y="20340431"/>
            <a:ext cx="10239983" cy="116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2195209" y="877957"/>
            <a:ext cx="39500782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10530845" y="14335769"/>
            <a:ext cx="94442282" cy="40553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t" anchorCtr="0">
            <a:noAutofit/>
          </a:bodyPr>
          <a:lstStyle>
            <a:lvl1pPr marL="457200" lvl="0" indent="-80010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Char char="•"/>
              <a:defRPr sz="9000"/>
            </a:lvl1pPr>
            <a:lvl2pPr marL="914400" lvl="1" indent="-72390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Char char="–"/>
              <a:defRPr sz="7800"/>
            </a:lvl2pPr>
            <a:lvl3pPr marL="1371600" lvl="2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3pPr>
            <a:lvl4pPr marL="1828800" lvl="3" indent="-59055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Char char="–"/>
              <a:defRPr sz="5700"/>
            </a:lvl4pPr>
            <a:lvl5pPr marL="2286000" lvl="4" indent="-59055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Char char="»"/>
              <a:defRPr sz="5700"/>
            </a:lvl5pPr>
            <a:lvl6pPr marL="2743200" lvl="5" indent="-59055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Char char="•"/>
              <a:defRPr sz="5700"/>
            </a:lvl6pPr>
            <a:lvl7pPr marL="3200400" lvl="6" indent="-59055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Char char="•"/>
              <a:defRPr sz="5700"/>
            </a:lvl7pPr>
            <a:lvl8pPr marL="3657600" lvl="7" indent="-59055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Char char="•"/>
              <a:defRPr sz="5700"/>
            </a:lvl8pPr>
            <a:lvl9pPr marL="4114800" lvl="8" indent="-59055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Char char="•"/>
              <a:defRPr sz="57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105704650" y="14335769"/>
            <a:ext cx="94442282" cy="40553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t" anchorCtr="0">
            <a:noAutofit/>
          </a:bodyPr>
          <a:lstStyle>
            <a:lvl1pPr marL="457200" lvl="0" indent="-80010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Char char="•"/>
              <a:defRPr sz="9000"/>
            </a:lvl1pPr>
            <a:lvl2pPr marL="914400" lvl="1" indent="-72390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Char char="–"/>
              <a:defRPr sz="7800"/>
            </a:lvl2pPr>
            <a:lvl3pPr marL="1371600" lvl="2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3pPr>
            <a:lvl4pPr marL="1828800" lvl="3" indent="-59055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Char char="–"/>
              <a:defRPr sz="5700"/>
            </a:lvl4pPr>
            <a:lvl5pPr marL="2286000" lvl="4" indent="-59055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Char char="»"/>
              <a:defRPr sz="5700"/>
            </a:lvl5pPr>
            <a:lvl6pPr marL="2743200" lvl="5" indent="-59055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Char char="•"/>
              <a:defRPr sz="5700"/>
            </a:lvl6pPr>
            <a:lvl7pPr marL="3200400" lvl="6" indent="-59055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Char char="•"/>
              <a:defRPr sz="5700"/>
            </a:lvl7pPr>
            <a:lvl8pPr marL="3657600" lvl="7" indent="-59055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Char char="•"/>
              <a:defRPr sz="5700"/>
            </a:lvl8pPr>
            <a:lvl9pPr marL="4114800" lvl="8" indent="-59055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Char char="•"/>
              <a:defRPr sz="57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2195209" y="20340431"/>
            <a:ext cx="10239983" cy="116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14996809" y="20340431"/>
            <a:ext cx="13897583" cy="116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31456009" y="20340431"/>
            <a:ext cx="10239983" cy="116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2195209" y="877957"/>
            <a:ext cx="39500782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2195209" y="20340431"/>
            <a:ext cx="10239983" cy="116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14996809" y="20340431"/>
            <a:ext cx="13897583" cy="116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31456009" y="20340431"/>
            <a:ext cx="10239983" cy="116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2194569" y="873760"/>
            <a:ext cx="14439903" cy="371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17160244" y="873766"/>
            <a:ext cx="24536399" cy="18729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t" anchorCtr="0">
            <a:noAutofit/>
          </a:bodyPr>
          <a:lstStyle>
            <a:lvl1pPr marL="457200" lvl="0" indent="-876300" algn="l">
              <a:spcBef>
                <a:spcPts val="2040"/>
              </a:spcBef>
              <a:spcAft>
                <a:spcPts val="0"/>
              </a:spcAft>
              <a:buClr>
                <a:schemeClr val="dk1"/>
              </a:buClr>
              <a:buSzPts val="10200"/>
              <a:buChar char="•"/>
              <a:defRPr sz="10200"/>
            </a:lvl1pPr>
            <a:lvl2pPr marL="914400" lvl="1" indent="-80010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Char char="–"/>
              <a:defRPr sz="9000"/>
            </a:lvl2pPr>
            <a:lvl3pPr marL="1371600" lvl="2" indent="-72390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Char char="•"/>
              <a:defRPr sz="7800"/>
            </a:lvl3pPr>
            <a:lvl4pPr marL="1828800" lvl="3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–"/>
              <a:defRPr sz="6500"/>
            </a:lvl4pPr>
            <a:lvl5pPr marL="2286000" lvl="4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»"/>
              <a:defRPr sz="6500"/>
            </a:lvl5pPr>
            <a:lvl6pPr marL="2743200" lvl="5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6pPr>
            <a:lvl7pPr marL="3200400" lvl="6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7pPr>
            <a:lvl8pPr marL="3657600" lvl="7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8pPr>
            <a:lvl9pPr marL="4114800" lvl="8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2194569" y="4592326"/>
            <a:ext cx="14439903" cy="15011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t" anchorCtr="0">
            <a:noAutofit/>
          </a:bodyPr>
          <a:lstStyle>
            <a:lvl1pPr marL="457200" lvl="0" indent="-2286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/>
            </a:lvl1pPr>
            <a:lvl2pPr marL="914400" lvl="1" indent="-228600" algn="l"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2pPr>
            <a:lvl3pPr marL="1371600" lvl="2" indent="-2286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3pPr>
            <a:lvl4pPr marL="1828800" lvl="3" indent="-228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4pPr>
            <a:lvl5pPr marL="2286000" lvl="4" indent="-228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5pPr>
            <a:lvl6pPr marL="2743200" lvl="5" indent="-228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6pPr>
            <a:lvl7pPr marL="3200400" lvl="6" indent="-228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7pPr>
            <a:lvl8pPr marL="3657600" lvl="7" indent="-228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8pPr>
            <a:lvl9pPr marL="4114800" lvl="8" indent="-228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2195209" y="20340431"/>
            <a:ext cx="10239983" cy="116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14996809" y="20340431"/>
            <a:ext cx="13897583" cy="116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31456009" y="20340431"/>
            <a:ext cx="10239983" cy="116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602983" y="15361927"/>
            <a:ext cx="26334721" cy="1813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8602983" y="1960880"/>
            <a:ext cx="26334721" cy="1316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t" anchorCtr="0">
            <a:noAutofit/>
          </a:bodyPr>
          <a:lstStyle>
            <a:lvl1pPr marR="0" lvl="0" algn="l" rtl="0">
              <a:spcBef>
                <a:spcPts val="2040"/>
              </a:spcBef>
              <a:spcAft>
                <a:spcPts val="0"/>
              </a:spcAft>
              <a:buClr>
                <a:schemeClr val="dk1"/>
              </a:buClr>
              <a:buSzPts val="10200"/>
              <a:buFont typeface="Arial"/>
              <a:buNone/>
              <a:defRPr sz="10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None/>
              <a:defRPr sz="9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None/>
              <a:defRPr sz="7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Arial"/>
              <a:buNone/>
              <a:defRPr sz="6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Arial"/>
              <a:buNone/>
              <a:defRPr sz="6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Arial"/>
              <a:buNone/>
              <a:defRPr sz="6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Arial"/>
              <a:buNone/>
              <a:defRPr sz="6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Arial"/>
              <a:buNone/>
              <a:defRPr sz="6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Arial"/>
              <a:buNone/>
              <a:defRPr sz="6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602983" y="17175488"/>
            <a:ext cx="26334721" cy="257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t" anchorCtr="0">
            <a:noAutofit/>
          </a:bodyPr>
          <a:lstStyle>
            <a:lvl1pPr marL="457200" lvl="0" indent="-2286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/>
            </a:lvl1pPr>
            <a:lvl2pPr marL="914400" lvl="1" indent="-228600" algn="l"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2pPr>
            <a:lvl3pPr marL="1371600" lvl="2" indent="-2286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3pPr>
            <a:lvl4pPr marL="1828800" lvl="3" indent="-228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4pPr>
            <a:lvl5pPr marL="2286000" lvl="4" indent="-228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5pPr>
            <a:lvl6pPr marL="2743200" lvl="5" indent="-228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6pPr>
            <a:lvl7pPr marL="3200400" lvl="6" indent="-228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7pPr>
            <a:lvl8pPr marL="3657600" lvl="7" indent="-228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8pPr>
            <a:lvl9pPr marL="4114800" lvl="8" indent="-228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2195209" y="20340431"/>
            <a:ext cx="10239983" cy="116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14996809" y="20340431"/>
            <a:ext cx="13897583" cy="116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31456009" y="20340431"/>
            <a:ext cx="10239983" cy="116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2195209" y="877957"/>
            <a:ext cx="39500782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14704115" y="-7388598"/>
            <a:ext cx="14482969" cy="39500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2195209" y="20340431"/>
            <a:ext cx="10239983" cy="116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14996809" y="20340431"/>
            <a:ext cx="13897583" cy="116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31456009" y="20340431"/>
            <a:ext cx="10239983" cy="116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150229575" y="4972056"/>
            <a:ext cx="52430683" cy="474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5055777" y="-42066204"/>
            <a:ext cx="52430683" cy="14148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2195209" y="20340431"/>
            <a:ext cx="10239983" cy="116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14996809" y="20340431"/>
            <a:ext cx="13897583" cy="116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31456009" y="20340431"/>
            <a:ext cx="10239983" cy="116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2195209" y="877957"/>
            <a:ext cx="39500782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2195209" y="5120309"/>
            <a:ext cx="39500782" cy="1448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t" anchorCtr="0">
            <a:noAutofit/>
          </a:bodyPr>
          <a:lstStyle>
            <a:lvl1pPr marL="457200" marR="0" lvl="0" indent="-876300" algn="l" rtl="0">
              <a:spcBef>
                <a:spcPts val="2040"/>
              </a:spcBef>
              <a:spcAft>
                <a:spcPts val="0"/>
              </a:spcAft>
              <a:buClr>
                <a:schemeClr val="dk1"/>
              </a:buClr>
              <a:buSzPts val="10200"/>
              <a:buFont typeface="Arial"/>
              <a:buChar char="•"/>
              <a:defRPr sz="10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8001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Char char="–"/>
              <a:defRPr sz="9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723900" algn="l" rtl="0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sz="7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641350" algn="l" rtl="0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Arial"/>
              <a:buChar char="–"/>
              <a:defRPr sz="6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641350" algn="l" rtl="0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Arial"/>
              <a:buChar char="»"/>
              <a:defRPr sz="6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641350" algn="l" rtl="0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Arial"/>
              <a:buChar char="•"/>
              <a:defRPr sz="6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641350" algn="l" rtl="0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Arial"/>
              <a:buChar char="•"/>
              <a:defRPr sz="6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641350" algn="l" rtl="0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Arial"/>
              <a:buChar char="•"/>
              <a:defRPr sz="6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641350" algn="l" rtl="0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Arial"/>
              <a:buChar char="•"/>
              <a:defRPr sz="6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2195209" y="20340431"/>
            <a:ext cx="10239983" cy="116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14996809" y="20340431"/>
            <a:ext cx="13897583" cy="116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31456009" y="20340431"/>
            <a:ext cx="10239983" cy="116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3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21337525" y="12186000"/>
            <a:ext cx="22398000" cy="975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FFFFFF"/>
              </a:solidFill>
              <a:highlight>
                <a:schemeClr val="lt1"/>
              </a:highlight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21337525" y="3120550"/>
            <a:ext cx="22398000" cy="8893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FFFFFF"/>
              </a:solidFill>
              <a:highlight>
                <a:schemeClr val="lt1"/>
              </a:highlight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21466750" y="3556800"/>
            <a:ext cx="22116600" cy="8198400"/>
          </a:xfrm>
          <a:prstGeom prst="rect">
            <a:avLst/>
          </a:prstGeom>
          <a:noFill/>
          <a:ln w="3810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21466750" y="12620750"/>
            <a:ext cx="22116600" cy="9106500"/>
          </a:xfrm>
          <a:prstGeom prst="rect">
            <a:avLst/>
          </a:prstGeom>
          <a:noFill/>
          <a:ln w="3810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/>
          </p:nvPr>
        </p:nvSpPr>
        <p:spPr>
          <a:xfrm>
            <a:off x="9679241" y="0"/>
            <a:ext cx="22984967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sz="6900" b="1">
                <a:latin typeface="Times New Roman"/>
                <a:ea typeface="Times New Roman"/>
                <a:cs typeface="Times New Roman"/>
                <a:sym typeface="Times New Roman"/>
              </a:rPr>
              <a:t>Towards Efficient Reranking for Semantic Image Retrieval</a:t>
            </a:r>
            <a:endParaRPr sz="69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3803" y="174573"/>
            <a:ext cx="4412050" cy="25104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/>
          <p:nvPr/>
        </p:nvSpPr>
        <p:spPr>
          <a:xfrm>
            <a:off x="167525" y="3120550"/>
            <a:ext cx="21004200" cy="8893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167525" y="12186000"/>
            <a:ext cx="21004200" cy="975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 b="1">
              <a:solidFill>
                <a:srgbClr val="FFFFFF"/>
              </a:solidFill>
              <a:highlight>
                <a:schemeClr val="dk1"/>
              </a:highlight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0195613" y="3222488"/>
            <a:ext cx="4681800" cy="7851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latin typeface="Calibri"/>
                <a:ea typeface="Calibri"/>
                <a:cs typeface="Calibri"/>
                <a:sym typeface="Calibri"/>
              </a:rPr>
              <a:t>Overall Approach</a:t>
            </a:r>
            <a:endParaRPr sz="3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658625" y="12619075"/>
            <a:ext cx="20334300" cy="9106500"/>
          </a:xfrm>
          <a:prstGeom prst="rect">
            <a:avLst/>
          </a:prstGeom>
          <a:noFill/>
          <a:ln w="3810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328725" y="12295928"/>
            <a:ext cx="4681800" cy="8004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353800" y="3556800"/>
            <a:ext cx="20639100" cy="8198400"/>
          </a:xfrm>
          <a:prstGeom prst="rect">
            <a:avLst/>
          </a:prstGeom>
          <a:noFill/>
          <a:ln w="3810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8332450" y="3207200"/>
            <a:ext cx="4681800" cy="8004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29669878" y="12284700"/>
            <a:ext cx="5733300" cy="8004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Milestones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/>
          </p:nvPr>
        </p:nvSpPr>
        <p:spPr>
          <a:xfrm>
            <a:off x="10573513" y="1242025"/>
            <a:ext cx="210042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4825" tIns="147400" rIns="294825" bIns="147400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altLang="zh-CN" sz="5100">
                <a:latin typeface="Times New Roman"/>
                <a:ea typeface="Times New Roman"/>
                <a:cs typeface="Times New Roman"/>
                <a:sym typeface="Times New Roman"/>
              </a:rPr>
              <a:t>Linli Shi,Yang Han, Zhifei Yu</a:t>
            </a:r>
          </a:p>
        </p:txBody>
      </p:sp>
      <p:pic>
        <p:nvPicPr>
          <p:cNvPr id="100" name="Google Shape;10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71303" y="174573"/>
            <a:ext cx="4412050" cy="251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8AF3ECC-6707-210B-4822-5710AE4D498D}"/>
              </a:ext>
            </a:extLst>
          </p:cNvPr>
          <p:cNvSpPr txBox="1"/>
          <p:nvPr/>
        </p:nvSpPr>
        <p:spPr>
          <a:xfrm>
            <a:off x="1240970" y="4600288"/>
            <a:ext cx="10590895" cy="5521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</a:rPr>
              <a:t>Most image retrieval systems use embeddings with cosine similarity, which is efficient but fixed and non-adaptive. </a:t>
            </a:r>
          </a:p>
          <a:p>
            <a:pPr>
              <a:lnSpc>
                <a:spcPct val="150000"/>
              </a:lnSpc>
            </a:pPr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they often rely on superficial features (e.g., color) rather than true semantic similarity, leading to incorrect rankings.</a:t>
            </a:r>
            <a:endParaRPr lang="zh-CN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41D4A4-9D93-C367-0E9C-978A9F6EE68D}"/>
              </a:ext>
            </a:extLst>
          </p:cNvPr>
          <p:cNvSpPr txBox="1"/>
          <p:nvPr/>
        </p:nvSpPr>
        <p:spPr>
          <a:xfrm>
            <a:off x="1293155" y="13827569"/>
            <a:ext cx="19065240" cy="7368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</a:rPr>
              <a:t>We propose a </a:t>
            </a:r>
            <a:r>
              <a:rPr lang="en-US" altLang="zh-C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lightweight</a:t>
            </a:r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</a:rPr>
              <a:t> CNN-based re-ranking module to improve image retrieval results by learning a better similarity function. Instead of relying on fixed cosine similarity, our method refines the Top-K retrieved candidates using a data-driven model that compares query–candidate image pairs. Specifically, (1) we first retrieve Top-K images using embedding and cosine similarity, (2) then compute pairwise similarity scores using a CNN model, and (3) re-rank the candidates based on these learned scores. This approach captures </a:t>
            </a:r>
            <a:r>
              <a:rPr lang="en-US" altLang="zh-C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fine-grained visual differences </a:t>
            </a:r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</a:rPr>
              <a:t>while remaining more efficient than transformer-based re-ranking methods.</a:t>
            </a:r>
            <a:endParaRPr lang="zh-CN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C66350E-D93D-5AAC-82BB-25FF97D97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99459" y="4219507"/>
            <a:ext cx="13433106" cy="720014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DAC1E91-0063-8EB5-E08F-4833D6935FCD}"/>
              </a:ext>
            </a:extLst>
          </p:cNvPr>
          <p:cNvSpPr txBox="1"/>
          <p:nvPr/>
        </p:nvSpPr>
        <p:spPr>
          <a:xfrm>
            <a:off x="22687954" y="4600288"/>
            <a:ext cx="5760720" cy="5521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/>
              <a:t>We first retrieve Top-K candidates using cosine similarity, then refine the ranking using a </a:t>
            </a:r>
            <a:r>
              <a:rPr lang="en-US" altLang="zh-CN" sz="4000" b="1"/>
              <a:t>lightweight </a:t>
            </a:r>
            <a:r>
              <a:rPr lang="en-US" altLang="zh-CN" sz="4000"/>
              <a:t>CNN-based similarity model.</a:t>
            </a:r>
            <a:endParaRPr lang="zh-CN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ED988B-E69C-3D4A-939C-FFFEAFA47E1D}"/>
              </a:ext>
            </a:extLst>
          </p:cNvPr>
          <p:cNvSpPr txBox="1"/>
          <p:nvPr/>
        </p:nvSpPr>
        <p:spPr>
          <a:xfrm>
            <a:off x="22949357" y="14619584"/>
            <a:ext cx="15864112" cy="3675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</a:rPr>
              <a:t>1.Reproduce baseline image retrieval system (embedding + cosine similarity)</a:t>
            </a:r>
          </a:p>
          <a:p>
            <a:pPr>
              <a:lnSpc>
                <a:spcPct val="150000"/>
              </a:lnSpc>
            </a:pPr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</a:rPr>
              <a:t>2.Implement CNN-based re-ranking module</a:t>
            </a:r>
          </a:p>
          <a:p>
            <a:pPr>
              <a:lnSpc>
                <a:spcPct val="150000"/>
              </a:lnSpc>
            </a:pPr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</a:rPr>
              <a:t>3.Train reranking model with pairwise data</a:t>
            </a:r>
          </a:p>
          <a:p>
            <a:pPr>
              <a:lnSpc>
                <a:spcPct val="150000"/>
              </a:lnSpc>
            </a:pPr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</a:rPr>
              <a:t>4.Evaluate performance and analyze results</a:t>
            </a:r>
            <a:endParaRPr lang="zh-CN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1CAB9FB-4ADB-B6B9-925E-15D7EE5136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032" t="7108" r="12187" b="28229"/>
          <a:stretch>
            <a:fillRect/>
          </a:stretch>
        </p:blipFill>
        <p:spPr>
          <a:xfrm>
            <a:off x="12366380" y="5000982"/>
            <a:ext cx="7992015" cy="45462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6D1C3C-0627-C079-D900-E14A6D76F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526754-90F3-153C-2D8C-63F911378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41FC966-0A2D-9D38-90F8-70DE59412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109" y="1793396"/>
            <a:ext cx="34251505" cy="1835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155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</TotalTime>
  <Words>225</Words>
  <Application>Microsoft Office PowerPoint</Application>
  <PresentationFormat>自定义</PresentationFormat>
  <Paragraphs>15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Noto Sans Symbols</vt:lpstr>
      <vt:lpstr>Arial</vt:lpstr>
      <vt:lpstr>Calibri</vt:lpstr>
      <vt:lpstr>Times New Roman</vt:lpstr>
      <vt:lpstr>Office Theme</vt:lpstr>
      <vt:lpstr>Towards Efficient Reranking for Semantic Image Retrieval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cp:lastModifiedBy>知非 郁</cp:lastModifiedBy>
  <cp:revision>13</cp:revision>
  <dcterms:modified xsi:type="dcterms:W3CDTF">2026-03-23T21:30:33Z</dcterms:modified>
</cp:coreProperties>
</file>